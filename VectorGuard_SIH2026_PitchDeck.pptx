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3840480" cy="411480"/>
          </a:xfrm>
          <a:prstGeom prst="roundRect">
            <a:avLst/>
          </a:prstGeom>
          <a:solidFill>
            <a:srgbClr val="1C263F"/>
          </a:solidFill>
          <a:ln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VectorGuard</a:t>
            </a:r>
          </a:p>
          <a:p>
            <a:pPr>
              <a:spcBef>
                <a:spcPts val="800"/>
              </a:spcBef>
              <a:defRPr sz="2000">
                <a:solidFill>
                  <a:srgbClr val="8B9BB4"/>
                </a:solidFill>
              </a:defRPr>
            </a:pPr>
            <a:r>
              <a:t>AI &amp; Biotech Vector-Borne Disease &amp; Mosquito Control System</a:t>
            </a:r>
          </a:p>
          <a:p>
            <a:pPr>
              <a:spcBef>
                <a:spcPts val="1200"/>
              </a:spcBef>
              <a:defRPr sz="1400" b="1">
                <a:solidFill>
                  <a:srgbClr val="60A5FA"/>
                </a:solidFill>
              </a:defRPr>
            </a:pPr>
            <a:r>
              <a:t>PREDICT • PREVENT • PROTECT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i="1">
                <a:solidFill>
                  <a:srgbClr val="FFFFFF"/>
                </a:solidFill>
              </a:defRPr>
            </a:pPr>
            <a:r>
              <a:t>“Predict mosquito threats, protect yourself and your loved ones.”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97280"/>
            <a:ext cx="3474720" cy="493776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/>
          </a:p>
          <a:p>
            <a:pPr>
              <a:spcBef>
                <a:spcPts val="1000"/>
              </a:spcBef>
              <a:defRPr sz="1000" b="1">
                <a:solidFill>
                  <a:srgbClr val="60A5FA"/>
                </a:solidFill>
              </a:defRPr>
            </a:pPr>
            <a:r>
              <a:t>PROBLEM STATEMENT ID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SIH26200</a:t>
            </a:r>
          </a:p>
          <a:p>
            <a:pPr>
              <a:spcBef>
                <a:spcPts val="1000"/>
              </a:spcBef>
              <a:defRPr sz="1000" b="1">
                <a:solidFill>
                  <a:srgbClr val="60A5FA"/>
                </a:solidFill>
              </a:defRPr>
            </a:pPr>
            <a:r>
              <a:t>THEME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MedTech / BioTech / HealthTech</a:t>
            </a:r>
          </a:p>
          <a:p>
            <a:pPr>
              <a:spcBef>
                <a:spcPts val="1000"/>
              </a:spcBef>
              <a:defRPr sz="1000" b="1">
                <a:solidFill>
                  <a:srgbClr val="60A5FA"/>
                </a:solidFill>
              </a:defRPr>
            </a:pPr>
            <a:r>
              <a:t>CATEGORY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Software Platform</a:t>
            </a:r>
          </a:p>
          <a:p>
            <a:pPr>
              <a:spcBef>
                <a:spcPts val="1000"/>
              </a:spcBef>
              <a:defRPr sz="1000" b="1">
                <a:solidFill>
                  <a:srgbClr val="60A5FA"/>
                </a:solidFill>
              </a:defRPr>
            </a:pPr>
            <a:r>
              <a:t>TEAM NAME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VectorGuard</a:t>
            </a:r>
          </a:p>
          <a:p>
            <a:pPr>
              <a:spcBef>
                <a:spcPts val="1000"/>
              </a:spcBef>
              <a:defRPr sz="1000" b="1">
                <a:solidFill>
                  <a:srgbClr val="60A5FA"/>
                </a:solidFill>
              </a:defRPr>
            </a:pPr>
            <a:r>
              <a:t>PRIMARY STATE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Telangana State (Scalable Pan-India)</a:t>
            </a:r>
          </a:p>
          <a:p>
            <a:pPr>
              <a:spcBef>
                <a:spcPts val="1000"/>
              </a:spcBef>
              <a:defRPr sz="1000" b="1">
                <a:solidFill>
                  <a:srgbClr val="60A5FA"/>
                </a:solidFill>
              </a:defRPr>
            </a:pPr>
            <a:r>
              <a:t>LIVE DEPLOYMENT</a:t>
            </a:r>
          </a:p>
          <a:p>
            <a:pPr>
              <a:defRPr sz="1200" b="0">
                <a:solidFill>
                  <a:srgbClr val="FFFFFF"/>
                </a:solidFill>
              </a:defRPr>
            </a:pPr>
            <a:r>
              <a:t>https://lasyakerelli-maker.github.io/vectorguard1/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6949440" cy="15544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AUTONOMOUS PUBLIC HEALTH INFRASTRUCTURE</a:t>
            </a:r>
          </a:p>
          <a:p>
            <a:pPr>
              <a:spcBef>
                <a:spcPts val="400"/>
              </a:spcBef>
              <a:defRPr sz="1100">
                <a:solidFill>
                  <a:srgbClr val="8B9BB4"/>
                </a:solidFill>
              </a:defRPr>
            </a:pPr>
            <a:r>
              <a:t>Bridging hyper-local atmospheric environmental intelligence (temperature, humidity, precipitation) with spatial hydrology GIS mapping and direct municipal complaint routing.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SMART INDIA HACKATHON 2026 | PS ID: SIH26200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Idea Overview: Autonomous Public Health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 Problem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Why current vector control fails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Reactive Public Health: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Fogging and medical aid only dispatch after hospital beds fill up with severe Dengue/Malaria patients.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Hidden Microclimates: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Urban heat islands and standing water create hyper-local breeding clusters right outside residents' doors.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Climatic Compression: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Ambient temperatures (24°-32°C) cut larval incubation from 14 days down to 6 days.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Bureaucratic Delay: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Citizens struggle to locate ward contacts and report standing water pools.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7472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 VectorGuard Solution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Predictive, preventive, and localized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Hyper-Local Risk AI: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Combines device GPS with live Open-Meteo satellite weather to calculate instant 0-100 breeding scores.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Spatial Hydrology Mapping: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Pinpoints nearby lakes (Hussain Sagar, Durgam Cheruvu) within a 1.5 km vector flight radius.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Targeted Biotech Guidance: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Prescribes Bacillus thuringiensis israelensis (Bti) microbial larvicide and Gambusia fish stocking.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Direct Civic Escalation: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One-click reporting to Telangana Municipal Services (municipalservices.in ID: 259).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38328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 Three Offerings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Core User Experience</a:t>
            </a:r>
          </a:p>
          <a:p>
            <a:pPr>
              <a:spcBef>
                <a:spcPts val="1400"/>
              </a:spcBef>
              <a:defRPr sz="1200" b="1">
                <a:solidFill>
                  <a:srgbClr val="60A5FA"/>
                </a:solidFill>
              </a:defRPr>
            </a:pPr>
            <a:r>
              <a:t>1. Risk Prediction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Requests location upfront, tracks temperature/humidity, scores breeding vulnerability (High/Low).</a:t>
            </a:r>
          </a:p>
          <a:p>
            <a:pPr>
              <a:spcBef>
                <a:spcPts val="1400"/>
              </a:spcBef>
              <a:defRPr sz="1200" b="1">
                <a:solidFill>
                  <a:srgbClr val="60A5FA"/>
                </a:solidFill>
              </a:defRPr>
            </a:pPr>
            <a:r>
              <a:t>2. Raise an Issue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Direct link and quick complaint submission to municipal authorities for standing water and open sewers.</a:t>
            </a:r>
          </a:p>
          <a:p>
            <a:pPr>
              <a:spcBef>
                <a:spcPts val="1400"/>
              </a:spcBef>
              <a:defRPr sz="1200" b="1">
                <a:solidFill>
                  <a:srgbClr val="60A5FA"/>
                </a:solidFill>
              </a:defRPr>
            </a:pPr>
            <a:r>
              <a:t>3. Preventative Education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Mortality statistics, Sunday Dry Day protocol, Bti science, and interactive FAQs.</a:t>
            </a:r>
          </a:p>
        </p:txBody>
      </p:sp>
      <p:pic>
        <p:nvPicPr>
          <p:cNvPr id="7" name="Picture 6" descr="mosquito-preventi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297680"/>
            <a:ext cx="3017520" cy="1025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SMART INDIA HACKATHON 2026 | PS ID: SIH26200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Technical Architecture: Frontend, Backend &amp; AI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Frontend Architecture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What the User Sees &amp; Interacts With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What is Frontend?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The visual interface and interactive buttons, maps, and forms running inside the user's browser or smartphone.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Technologies Used: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HTML5 Semantic Web, Modern JavaScript (ES Modules), Tailwind CSS framework.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Why this choice?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Zero build-step lag, instant loading on 4G/5G mobile networks, completely responsive across all screen sizes.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Bryan Johnson Design: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Monochromatic deep navy UI (#151d30) with medical-grade typography (Plus Jakarta Sans) to provide trust and clarity.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Backend &amp; Data Pipelines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The Computational Engine Behind the Scenes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What is Backend?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The data engine, mathematical calculations, API communication, and server logic that powers the website.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Python Architecture: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Python 3.14 environment utilizing RESTful handlers, local HTTP server runtime, and automation modules.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Open-Meteo Satellite API: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Fetches real-time ambient temperature (2m), relative humidity (%), precipitation (mm) down to 1 km resolution.</a:t>
            </a:r>
          </a:p>
          <a:p>
            <a:pPr>
              <a:spcBef>
                <a:spcPts val="800"/>
              </a:spcBef>
              <a:defRPr sz="1100" b="1">
                <a:solidFill>
                  <a:srgbClr val="FFFFFF"/>
                </a:solidFill>
              </a:defRPr>
            </a:pPr>
            <a:r>
              <a:t>• Haversine Distance Engine: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Calculates great-circle distance between user GPS and Telangana water bodies to identify the nearest vector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7472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 &amp; Bio-Scoring Model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Multi-Factor Epidemiological Engine</a:t>
            </a:r>
          </a:p>
          <a:p>
            <a:pPr>
              <a:spcBef>
                <a:spcPts val="600"/>
              </a:spcBef>
              <a:defRPr sz="1100" b="1">
                <a:solidFill>
                  <a:srgbClr val="60A5FA"/>
                </a:solidFill>
              </a:defRPr>
            </a:pPr>
            <a:r>
              <a:t>• 1. Temperature Factor (35%)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Optimal 24°-32°C accelerates larval maturation to 6 days (+35 pts). Extreme cold/heat dampens flight.</a:t>
            </a:r>
          </a:p>
          <a:p>
            <a:pPr>
              <a:spcBef>
                <a:spcPts val="600"/>
              </a:spcBef>
              <a:defRPr sz="1100" b="1">
                <a:solidFill>
                  <a:srgbClr val="60A5FA"/>
                </a:solidFill>
              </a:defRPr>
            </a:pPr>
            <a:r>
              <a:t>• 2. Relative Humidity (35%)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Humidity &gt; 60% increases mosquito lifespan to 45 days (+35 pts), enabling multiple biting cycles.</a:t>
            </a:r>
          </a:p>
          <a:p>
            <a:pPr>
              <a:spcBef>
                <a:spcPts val="600"/>
              </a:spcBef>
              <a:defRPr sz="1100" b="1">
                <a:solidFill>
                  <a:srgbClr val="60A5FA"/>
                </a:solidFill>
              </a:defRPr>
            </a:pPr>
            <a:r>
              <a:t>• 3. Surface Precipitation (15%)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Recent rain (&gt;1mm) pools in ditches and containers, providing millions of oviposition nurseries (+15 pts).</a:t>
            </a:r>
          </a:p>
          <a:p>
            <a:pPr>
              <a:spcBef>
                <a:spcPts val="600"/>
              </a:spcBef>
              <a:defRPr sz="1100" b="1">
                <a:solidFill>
                  <a:srgbClr val="60A5FA"/>
                </a:solidFill>
              </a:defRPr>
            </a:pPr>
            <a:r>
              <a:t>• 4. Hydrological Proximity (15%)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Located within 1.5 km flight radius of lakes (Hussain Sagar, Durgam Cheruvu) (+15 pts).</a:t>
            </a:r>
          </a:p>
          <a:p>
            <a:pPr>
              <a:spcBef>
                <a:spcPts val="600"/>
              </a:spcBef>
              <a:defRPr sz="1100" b="1">
                <a:solidFill>
                  <a:srgbClr val="60A5FA"/>
                </a:solidFill>
              </a:defRPr>
            </a:pPr>
            <a:r>
              <a:t>• Output Classification: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Score ≥ 50 → HIGH RISK (Immediate Bti larvicide)</a:t>
            </a:r>
            <a:br/>
            <a:r>
              <a:t>Score &lt; 50 → LOW RISK (Routine source clearance)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SMART INDIA HACKATHON 2026 | PS ID: SIH26200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Feasibility &amp; Viability: Scalable &amp; Zero-Hardware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Technical &amp; Operational Feasibility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Zero-Hardware Deployment</a:t>
            </a:r>
          </a:p>
          <a:p>
            <a:pPr>
              <a:spcBef>
                <a:spcPts val="400"/>
              </a:spcBef>
              <a:defRPr sz="1000">
                <a:solidFill>
                  <a:srgbClr val="8B9BB4"/>
                </a:solidFill>
              </a:defRPr>
            </a:pPr>
            <a:r>
              <a:t>• Software-Only Infrastructure: Requires no expensive sensor towers or specialized field hardware; leverages existing smartphone GPS and global satellite weather APIs.</a:t>
            </a:r>
          </a:p>
          <a:p>
            <a:pPr>
              <a:spcBef>
                <a:spcPts val="400"/>
              </a:spcBef>
              <a:defRPr sz="1000">
                <a:solidFill>
                  <a:srgbClr val="8B9BB4"/>
                </a:solidFill>
              </a:defRPr>
            </a:pPr>
            <a:r>
              <a:t>• Negligible Maintenance Cost: Operates on free Open-Meteo satellite telemetry and serverless edge delivery via GitHub Pages.</a:t>
            </a:r>
          </a:p>
          <a:p>
            <a:pPr>
              <a:spcBef>
                <a:spcPts val="400"/>
              </a:spcBef>
              <a:defRPr sz="1000">
                <a:solidFill>
                  <a:srgbClr val="8B9BB4"/>
                </a:solidFill>
              </a:defRPr>
            </a:pPr>
            <a:r>
              <a:t>• Immediate Citizen Accessibility: No app download or installation barrier required; works instantly on any smartphone web browser.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Challenges &amp; Overcoming Strategies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Built for Real-World Field Conditions</a:t>
            </a:r>
          </a:p>
          <a:p>
            <a:pPr>
              <a:spcBef>
                <a:spcPts val="400"/>
              </a:spcBef>
              <a:defRPr sz="1000">
                <a:solidFill>
                  <a:srgbClr val="8B9BB4"/>
                </a:solidFill>
              </a:defRPr>
            </a:pPr>
            <a:r>
              <a:t>• Challenge: Low GPS / Signal in Remote Areas: Strategy: Built-in manual district &amp; ward selector covering all major Telangana administrative zones.</a:t>
            </a:r>
          </a:p>
          <a:p>
            <a:pPr>
              <a:spcBef>
                <a:spcPts val="400"/>
              </a:spcBef>
              <a:defRPr sz="1000">
                <a:solidFill>
                  <a:srgbClr val="8B9BB4"/>
                </a:solidFill>
              </a:defRPr>
            </a:pPr>
            <a:r>
              <a:t>• Challenge: Outdated Municipal Contact Books: Strategy: Integrated direct URL to official centralized portal (municipalservices.in ID 259).</a:t>
            </a:r>
          </a:p>
          <a:p>
            <a:pPr>
              <a:spcBef>
                <a:spcPts val="400"/>
              </a:spcBef>
              <a:defRPr sz="1000">
                <a:solidFill>
                  <a:srgbClr val="8B9BB4"/>
                </a:solidFill>
              </a:defRPr>
            </a:pPr>
            <a:r>
              <a:t>• Challenge: Offline Usage in Dense Slums: Strategy: Cached preventative guides and Sunday Dry Day protocols for offline reference.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Scalability Roadmap (Telangana to Pan-India)</a:t>
            </a:r>
          </a:p>
          <a:p>
            <a:pPr>
              <a:spcBef>
                <a:spcPts val="500"/>
              </a:spcBef>
              <a:defRPr sz="1100" b="1">
                <a:solidFill>
                  <a:srgbClr val="60A5FA"/>
                </a:solidFill>
              </a:defRPr>
            </a:pPr>
            <a:r>
              <a:t>• Phase 1: Pilot Deployment (Present):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Live platform launched covering Greater Hyderabad (GHMC), Warangal, Karimnagar, and Nizamabad with Open-Meteo telemetry.</a:t>
            </a:r>
          </a:p>
          <a:p>
            <a:pPr>
              <a:spcBef>
                <a:spcPts val="500"/>
              </a:spcBef>
              <a:defRPr sz="1100" b="1">
                <a:solidFill>
                  <a:srgbClr val="60A5FA"/>
                </a:solidFill>
              </a:defRPr>
            </a:pPr>
            <a:r>
              <a:t>• Phase 2: Municipal Ward Dashboard (Next 6 Months):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Equipping ward entomology teams with geo-tagged heatmaps of stagnant water complaints for targeted Bti spraying.</a:t>
            </a:r>
          </a:p>
          <a:p>
            <a:pPr>
              <a:spcBef>
                <a:spcPts val="500"/>
              </a:spcBef>
              <a:defRPr sz="1100" b="1">
                <a:solidFill>
                  <a:srgbClr val="60A5FA"/>
                </a:solidFill>
              </a:defRPr>
            </a:pPr>
            <a:r>
              <a:t>• Phase 3: Drone Fleet &amp; Biotech Integration (2027):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Direct integration with automated agricultural drone spraying units over inaccessible lake hyacinth canopies.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SMART INDIA HACKATHON 2026 | PS ID: SIH26200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Impact &amp; Benefits: Autonomous Public Health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Impact on Citizens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Empowerment &amp; Protection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Early Surge Warning: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Alerts residents to vector breeding viability 5 to 7 days before mosquitoes reach the adult biting stage.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Actionable Home Protocols: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Replaces anxiety with clear steps: Sunday Dry Day checklist, sealing overhead tanks, and using DEET repellents.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Direct Grievance Voice: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Enables immediate reporting of unmaintained neighborhood water bodies without bureaucratic runarounds.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Impact on Municipalities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Efficiency &amp; Precision Targeting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Data-Driven Operations: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Helps municipal corporations (GHMC, GWMC) transition from random street fogging to pinpoint larvicide application.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Biotech-First Protocols: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Promotes eco-safe Bacillus thuringiensis israelensis (Bti) and Gambusia fish over toxic chemical sprays.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Faster Response SLA: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Pre-formatted grievance routing slashes complaint response times from weeks to 24-48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7472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Public Health Metrics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Measurable Societal ROI</a:t>
            </a:r>
          </a:p>
          <a:p>
            <a:pPr>
              <a:spcBef>
                <a:spcPts val="1000"/>
              </a:spcBef>
              <a:defRPr sz="1100" b="1">
                <a:solidFill>
                  <a:srgbClr val="60A5FA"/>
                </a:solidFill>
              </a:defRPr>
            </a:pPr>
            <a:r>
              <a:t>• Mortality Reduction: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Targeting vectors during the aquatic larval stage is 90% cheaper and more effective than treating hospitalized fever patients.</a:t>
            </a:r>
          </a:p>
          <a:p>
            <a:pPr>
              <a:spcBef>
                <a:spcPts val="1000"/>
              </a:spcBef>
              <a:defRPr sz="1100" b="1">
                <a:solidFill>
                  <a:srgbClr val="60A5FA"/>
                </a:solidFill>
              </a:defRPr>
            </a:pPr>
            <a:r>
              <a:t>• Ecosystem Preservation: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Zero chemical pesticide runoff into freshwater lakes, protecting aquatic biodiversity.</a:t>
            </a:r>
          </a:p>
          <a:p>
            <a:pPr>
              <a:spcBef>
                <a:spcPts val="1000"/>
              </a:spcBef>
              <a:defRPr sz="1100" b="1">
                <a:solidFill>
                  <a:srgbClr val="60A5FA"/>
                </a:solidFill>
              </a:defRPr>
            </a:pPr>
            <a:r>
              <a:t>• Vision 2047 Alignment: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Directly advances India's national health goals for complete vector-borne disease elimination.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SMART INDIA HACKATHON 2026 | PS ID: SIH26200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Research, Standards &amp; Live System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Scientific Guidelines &amp; Standards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Grounded in Authoritative Research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National Vector Borne Disease Control Programme (NVBDCP):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Frameworks for Urban Malaria Scheme (UMS) and Aedes source reduction protocols in Indian urban agglomerations.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World Health Organization (WHO):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Specifications for Bacillus thuringiensis israelensis (Bti) microbial larvicides and larvivorous fish predator controls.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Open-Meteo Meteorological Telemetry: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Validated satellite &amp; atmospheric models (ECMWF, NOAA, DWD) for hyper-local surface temperature and humidity extraction.</a:t>
            </a:r>
          </a:p>
          <a:p>
            <a:pPr>
              <a:spcBef>
                <a:spcPts val="1000"/>
              </a:spcBef>
              <a:defRPr sz="1100" b="1">
                <a:solidFill>
                  <a:srgbClr val="FFFFFF"/>
                </a:solidFill>
              </a:defRPr>
            </a:pPr>
            <a:r>
              <a:t>• Telangana Municipal Services Act:</a:t>
            </a:r>
          </a:p>
          <a:p>
            <a:pPr>
              <a:defRPr sz="1000">
                <a:solidFill>
                  <a:srgbClr val="8B9BB4"/>
                </a:solidFill>
              </a:defRPr>
            </a:pPr>
            <a:r>
              <a:t>  Direct integration standards with official civic redressal systems (municipalservices.in ID: 259).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C263F"/>
          </a:solidFill>
          <a:ln w="12700">
            <a:solidFill>
              <a:srgbClr val="2C3A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Live System Verification</a:t>
            </a:r>
          </a:p>
          <a:p>
            <a:pPr>
              <a:defRPr sz="1100">
                <a:solidFill>
                  <a:srgbClr val="8B9BB4"/>
                </a:solidFill>
              </a:defRPr>
            </a:pPr>
            <a:r>
              <a:t>Fully Functional Platform</a:t>
            </a:r>
          </a:p>
          <a:p>
            <a:pPr>
              <a:spcBef>
                <a:spcPts val="800"/>
              </a:spcBef>
              <a:defRPr sz="1100" b="1">
                <a:solidFill>
                  <a:srgbClr val="60A5FA"/>
                </a:solidFill>
              </a:defRPr>
            </a:pPr>
            <a:r>
              <a:t>• Live Deployment URL: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https://lasyakerelli-maker.github.io/vectorguard1/</a:t>
            </a:r>
          </a:p>
          <a:p>
            <a:pPr>
              <a:spcBef>
                <a:spcPts val="800"/>
              </a:spcBef>
              <a:defRPr sz="1100" b="1">
                <a:solidFill>
                  <a:srgbClr val="60A5FA"/>
                </a:solidFill>
              </a:defRPr>
            </a:pPr>
            <a:r>
              <a:t>• Dedicated Education Page: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https://lasyakerelli-maker.github.io/vectorguard1/education.html</a:t>
            </a:r>
          </a:p>
          <a:p>
            <a:pPr>
              <a:spcBef>
                <a:spcPts val="800"/>
              </a:spcBef>
              <a:defRPr sz="1100" b="1">
                <a:solidFill>
                  <a:srgbClr val="60A5FA"/>
                </a:solidFill>
              </a:defRPr>
            </a:pPr>
            <a:r>
              <a:t>• GitHub Source Repository: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https://github.com/lasyakerelli-maker/vectorguard1</a:t>
            </a:r>
          </a:p>
          <a:p>
            <a:pPr>
              <a:spcBef>
                <a:spcPts val="800"/>
              </a:spcBef>
              <a:defRPr sz="1100" b="1">
                <a:solidFill>
                  <a:srgbClr val="60A5FA"/>
                </a:solidFill>
              </a:defRPr>
            </a:pPr>
            <a:r>
              <a:t>• Current Status: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Fully operational and accessible on all iOS/Android smartphones worldwide.</a:t>
            </a:r>
          </a:p>
          <a:p>
            <a:pPr>
              <a:spcBef>
                <a:spcPts val="800"/>
              </a:spcBef>
              <a:defRPr sz="1100" b="1">
                <a:solidFill>
                  <a:srgbClr val="60A5FA"/>
                </a:solidFill>
              </a:defRPr>
            </a:pPr>
            <a:r>
              <a:t>• Core Team Motto: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  “Predict mosquito threats, protect yourself and your loved ones.”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